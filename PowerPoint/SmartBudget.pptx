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386" autoAdjust="0"/>
  </p:normalViewPr>
  <p:slideViewPr>
    <p:cSldViewPr snapToGrid="0">
      <p:cViewPr>
        <p:scale>
          <a:sx n="75" d="100"/>
          <a:sy n="75" d="100"/>
        </p:scale>
        <p:origin x="974" y="1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 hasCustomPrompt="1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IT"/>
          </a:p>
        </p:txBody>
      </p:sp>
      <p:sp>
        <p:nvSpPr>
          <p:cNvPr id="3" name="Sottotitolo 2"/>
          <p:cNvSpPr>
            <a:spLocks noGrp="1"/>
          </p:cNvSpPr>
          <p:nvPr>
            <p:ph type="subTitle" idx="1" hasCustomPrompt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A23C-D477-440F-85E6-FBE69B0E55A8}" type="datetimeFigureOut">
              <a:rPr lang="it-IT" smtClean="0"/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31FBF-6D36-4A0E-9A54-31D8AF2A0DC3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A23C-D477-440F-85E6-FBE69B0E55A8}" type="datetimeFigureOut">
              <a:rPr lang="it-IT" smtClean="0"/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31FBF-6D36-4A0E-9A54-31D8AF2A0DC3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A23C-D477-440F-85E6-FBE69B0E55A8}" type="datetimeFigureOut">
              <a:rPr lang="it-IT" smtClean="0"/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31FBF-6D36-4A0E-9A54-31D8AF2A0DC3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A23C-D477-440F-85E6-FBE69B0E55A8}" type="datetimeFigureOut">
              <a:rPr lang="it-IT" smtClean="0"/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31FBF-6D36-4A0E-9A54-31D8AF2A0DC3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  <a:endParaRPr lang="it-IT"/>
          </a:p>
        </p:txBody>
      </p:sp>
      <p:sp>
        <p:nvSpPr>
          <p:cNvPr id="4" name="Segnaposto contenuto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5" name="Segnaposto testo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  <a:endParaRPr lang="it-IT"/>
          </a:p>
        </p:txBody>
      </p:sp>
      <p:sp>
        <p:nvSpPr>
          <p:cNvPr id="6" name="Segnaposto contenuto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7" name="Segnaposto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A23C-D477-440F-85E6-FBE69B0E55A8}" type="datetimeFigureOut">
              <a:rPr lang="it-IT" smtClean="0"/>
            </a:fld>
            <a:endParaRPr lang="it-IT"/>
          </a:p>
        </p:txBody>
      </p:sp>
      <p:sp>
        <p:nvSpPr>
          <p:cNvPr id="8" name="Segnaposto piè di pa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31FBF-6D36-4A0E-9A54-31D8AF2A0DC3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A23C-D477-440F-85E6-FBE69B0E55A8}" type="datetimeFigureOut">
              <a:rPr lang="it-IT" smtClean="0"/>
            </a:fld>
            <a:endParaRPr lang="it-IT"/>
          </a:p>
        </p:txBody>
      </p:sp>
      <p:sp>
        <p:nvSpPr>
          <p:cNvPr id="4" name="Segnaposto piè di pa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31FBF-6D36-4A0E-9A54-31D8AF2A0DC3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A23C-D477-440F-85E6-FBE69B0E55A8}" type="datetimeFigureOut">
              <a:rPr lang="it-IT" smtClean="0"/>
            </a:fld>
            <a:endParaRPr lang="it-IT"/>
          </a:p>
        </p:txBody>
      </p:sp>
      <p:sp>
        <p:nvSpPr>
          <p:cNvPr id="3" name="Segnaposto piè di pa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31FBF-6D36-4A0E-9A54-31D8AF2A0DC3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IT"/>
          </a:p>
        </p:txBody>
      </p:sp>
      <p:sp>
        <p:nvSpPr>
          <p:cNvPr id="3" name="Segnaposto contenuto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A23C-D477-440F-85E6-FBE69B0E55A8}" type="datetimeFigureOut">
              <a:rPr lang="it-IT" smtClean="0"/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31FBF-6D36-4A0E-9A54-31D8AF2A0DC3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  <a:endParaRPr lang="it-IT"/>
          </a:p>
        </p:txBody>
      </p:sp>
      <p:sp>
        <p:nvSpPr>
          <p:cNvPr id="3" name="Segnaposto immagin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  <a:endParaRPr lang="it-IT"/>
          </a:p>
        </p:txBody>
      </p:sp>
      <p:sp>
        <p:nvSpPr>
          <p:cNvPr id="5" name="Segnaposto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A23C-D477-440F-85E6-FBE69B0E55A8}" type="datetimeFigureOut">
              <a:rPr lang="it-IT" smtClean="0"/>
            </a:fld>
            <a:endParaRPr lang="it-IT"/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31FBF-6D36-4A0E-9A54-31D8AF2A0DC3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A23C-D477-440F-85E6-FBE69B0E55A8}" type="datetimeFigureOut">
              <a:rPr lang="it-IT" smtClean="0"/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31FBF-6D36-4A0E-9A54-31D8AF2A0DC3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/>
          <p:cNvSpPr>
            <a:spLocks noGrp="1"/>
          </p:cNvSpPr>
          <p:nvPr>
            <p:ph type="title" orient="vert" hasCustomPrompt="1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  <a:endParaRPr lang="it-IT"/>
          </a:p>
        </p:txBody>
      </p:sp>
      <p:sp>
        <p:nvSpPr>
          <p:cNvPr id="3" name="Segnaposto testo verticale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7A23C-D477-440F-85E6-FBE69B0E55A8}" type="datetimeFigureOut">
              <a:rPr lang="it-IT" smtClean="0"/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E31FBF-6D36-4A0E-9A54-31D8AF2A0DC3}" type="slidenum">
              <a:rPr lang="it-IT" smtClean="0"/>
            </a:fld>
            <a:endParaRPr lang="it-IT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it-IT"/>
          </a:p>
        </p:txBody>
      </p:sp>
      <p:sp>
        <p:nvSpPr>
          <p:cNvPr id="3" name="Segnaposto tes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  <a:endParaRPr lang="it-IT"/>
          </a:p>
          <a:p>
            <a:pPr lvl="1"/>
            <a:r>
              <a:rPr lang="it-IT"/>
              <a:t>Secondo livello</a:t>
            </a:r>
            <a:endParaRPr lang="it-IT"/>
          </a:p>
          <a:p>
            <a:pPr lvl="2"/>
            <a:r>
              <a:rPr lang="it-IT"/>
              <a:t>Terzo livello</a:t>
            </a:r>
            <a:endParaRPr lang="it-IT"/>
          </a:p>
          <a:p>
            <a:pPr lvl="3"/>
            <a:r>
              <a:rPr lang="it-IT"/>
              <a:t>Quarto livello</a:t>
            </a:r>
            <a:endParaRPr lang="it-IT"/>
          </a:p>
          <a:p>
            <a:pPr lvl="4"/>
            <a:r>
              <a:rPr lang="it-IT"/>
              <a:t>Quinto livello</a:t>
            </a:r>
            <a:endParaRPr lang="it-IT"/>
          </a:p>
        </p:txBody>
      </p:sp>
      <p:sp>
        <p:nvSpPr>
          <p:cNvPr id="4" name="Segnaposto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27A23C-D477-440F-85E6-FBE69B0E55A8}" type="datetimeFigureOut">
              <a:rPr lang="it-IT" smtClean="0"/>
            </a:fld>
            <a:endParaRPr lang="it-IT"/>
          </a:p>
        </p:txBody>
      </p:sp>
      <p:sp>
        <p:nvSpPr>
          <p:cNvPr id="5" name="Segnaposto piè di pa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E31FBF-6D36-4A0E-9A54-31D8AF2A0DC3}" type="slidenum">
              <a:rPr lang="it-IT" smtClean="0"/>
            </a:fld>
            <a:endParaRPr lang="it-IT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ctrTitle"/>
          </p:nvPr>
        </p:nvSpPr>
        <p:spPr>
          <a:xfrm>
            <a:off x="2298454" y="1847132"/>
            <a:ext cx="6921910" cy="1219047"/>
          </a:xfrm>
        </p:spPr>
        <p:txBody>
          <a:bodyPr>
            <a:normAutofit/>
          </a:bodyPr>
          <a:lstStyle/>
          <a:p>
            <a:r>
              <a:rPr lang="it-IT" dirty="0" err="1">
                <a:latin typeface="Aharoni" panose="02010803020104030203" pitchFamily="2" charset="-79"/>
                <a:cs typeface="Aharoni" panose="02010803020104030203" pitchFamily="2" charset="-79"/>
              </a:rPr>
              <a:t>SmartBudget</a:t>
            </a:r>
            <a:endParaRPr lang="it-IT" dirty="0">
              <a:latin typeface="Aharoni" panose="02010803020104030203" pitchFamily="2" charset="-79"/>
              <a:cs typeface="Aharoni" panose="02010803020104030203" pitchFamily="2" charset="-79"/>
            </a:endParaRPr>
          </a:p>
        </p:txBody>
      </p:sp>
      <p:sp>
        <p:nvSpPr>
          <p:cNvPr id="3" name="Sottotitolo 2"/>
          <p:cNvSpPr>
            <a:spLocks noGrp="1"/>
          </p:cNvSpPr>
          <p:nvPr>
            <p:ph type="subTitle" idx="1"/>
          </p:nvPr>
        </p:nvSpPr>
        <p:spPr>
          <a:xfrm>
            <a:off x="235975" y="4729162"/>
            <a:ext cx="1986116" cy="816231"/>
          </a:xfrm>
        </p:spPr>
        <p:txBody>
          <a:bodyPr>
            <a:normAutofit/>
          </a:bodyPr>
          <a:lstStyle/>
          <a:p>
            <a:r>
              <a:rPr lang="it-IT" sz="1100" dirty="0">
                <a:latin typeface="Aptos" panose="020B0004020202020204" pitchFamily="34" charset="0"/>
                <a:cs typeface="Arial" panose="020B0604020202020204" pitchFamily="34" charset="0"/>
              </a:rPr>
              <a:t>Luca Marongiu    0001040913</a:t>
            </a:r>
            <a:endParaRPr lang="it-IT" sz="11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it-IT" sz="1100" dirty="0">
                <a:latin typeface="Aptos" panose="020B0004020202020204" pitchFamily="34" charset="0"/>
                <a:cs typeface="Arial" panose="020B0604020202020204" pitchFamily="34" charset="0"/>
              </a:rPr>
              <a:t>Alex Santini</a:t>
            </a:r>
            <a:endParaRPr lang="it-IT" sz="1100" dirty="0">
              <a:latin typeface="Aptos" panose="020B0004020202020204" pitchFamily="34" charset="0"/>
              <a:cs typeface="Arial" panose="020B0604020202020204" pitchFamily="34" charset="0"/>
            </a:endParaRPr>
          </a:p>
          <a:p>
            <a:r>
              <a:rPr lang="it-IT" sz="1100" dirty="0" err="1">
                <a:latin typeface="Aptos" panose="020B0004020202020204" pitchFamily="34" charset="0"/>
                <a:cs typeface="Arial" panose="020B0604020202020204" pitchFamily="34" charset="0"/>
              </a:rPr>
              <a:t>Jemel</a:t>
            </a:r>
            <a:r>
              <a:rPr lang="it-IT" sz="1100" dirty="0">
                <a:latin typeface="Aptos" panose="020B0004020202020204" pitchFamily="34" charset="0"/>
                <a:cs typeface="Arial" panose="020B0604020202020204" pitchFamily="34" charset="0"/>
              </a:rPr>
              <a:t> </a:t>
            </a:r>
            <a:r>
              <a:rPr lang="it-IT" sz="1100" dirty="0" err="1">
                <a:latin typeface="Aptos" panose="020B0004020202020204" pitchFamily="34" charset="0"/>
                <a:cs typeface="Arial" panose="020B0604020202020204" pitchFamily="34" charset="0"/>
              </a:rPr>
              <a:t>Mereouche</a:t>
            </a:r>
            <a:endParaRPr lang="it-IT" sz="1100" dirty="0">
              <a:latin typeface="Aptos" panose="020B00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>
            <a:off x="838199" y="365126"/>
            <a:ext cx="4475481" cy="1078664"/>
          </a:xfrm>
        </p:spPr>
        <p:txBody>
          <a:bodyPr>
            <a:noAutofit/>
          </a:bodyPr>
          <a:lstStyle/>
          <a:p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INTRODUZIONE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SmartBudget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è un'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applicazione di gestione delle spese 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che offre un sistema intelligente per monitorare e gestire le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finanze personali 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in modo efficace.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La nostra soluzione consente agli utenti di mantenere un controllo costante sulle proprie finanze, garantendo al contempo un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servizio di qualità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. Sia che si tratti di pianificare un budget, tenere traccia delle spese quotidiane o pianificare per il futuro, </a:t>
            </a:r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SmartBudget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offre una soluzione completa.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Applicazione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Template sviluppati con </a:t>
            </a:r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 e CSS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: La nostra applicazione utilizza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React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per creare componenti riutilizzabili e modulari, che migliorano la manutenibilità e l'espansibilità del codice. I fogli di stile CSS sono usati per garantire una presentazione visiva coerente e attraente.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Chiamate alle API tramite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: Utilizziamo JavaScript per effettuare chiamate alle API, interagendo dinamicamente con le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route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del server.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Design responsive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: L'applicazione è progettata per essere responsive, assicurando una consultazione agevole da qualsiasi dispositivo e garantendo una migliore usabilità. 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Endpoint di comunicazione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Gli script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Javascript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utilizzano chiamate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AJAX/JSON 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alle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route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per gestire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l’interattività della pagina HTML.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Attraverso l’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approccio REST 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abbiamo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associato ad ogni metodo un’univoca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route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La </a:t>
            </a:r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route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è un URL associato al singolo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metodo implementato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 descr="Immagine che contiene simbolo, proiettore, design, arte&#10;&#10;Descrizione generata automaticamente con attendibilità media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772" y="1541144"/>
            <a:ext cx="2281312" cy="3931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Architettura </a:t>
            </a:r>
            <a:r>
              <a:rPr lang="it-IT" b="1" dirty="0" err="1">
                <a:latin typeface="Arial" panose="020B0604020202020204" pitchFamily="34" charset="0"/>
                <a:cs typeface="Arial" panose="020B0604020202020204" pitchFamily="34" charset="0"/>
              </a:rPr>
              <a:t>software:REST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Pattern per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applicazioni web client/server 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che garantisce: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Scalabilità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: Facile aggiunta di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route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per offrire nuovi servizi.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Amministrazione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del sistema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: gestione centralizzata.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Portabilità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: compatibilità con dispositivi diversi.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•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Indipendenza del linguaggio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: estrema libertà nello sviluppo.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it-IT" sz="4000" b="1">
                <a:latin typeface="Arial" panose="020B0604020202020204" pitchFamily="34" charset="0"/>
                <a:cs typeface="Arial" panose="020B0604020202020204" pitchFamily="34" charset="0"/>
              </a:rPr>
              <a:t>Dependency Inversion Principle</a:t>
            </a:r>
            <a:endParaRPr lang="it-IT" sz="40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808855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it-IT" b="1">
                <a:latin typeface="Arial" panose="020B0604020202020204" pitchFamily="34" charset="0"/>
                <a:cs typeface="Arial" panose="020B0604020202020204" pitchFamily="34" charset="0"/>
              </a:rPr>
              <a:t>Controller generico</a:t>
            </a: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•  Connessione DB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b="1">
                <a:latin typeface="Arial" panose="020B0604020202020204" pitchFamily="34" charset="0"/>
                <a:cs typeface="Arial" panose="020B0604020202020204" pitchFamily="34" charset="0"/>
              </a:rPr>
              <a:t>Controller specifico</a:t>
            </a: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•  Definisce logica applicativa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b="1">
                <a:latin typeface="Arial" panose="020B0604020202020204" pitchFamily="34" charset="0"/>
                <a:cs typeface="Arial" panose="020B0604020202020204" pitchFamily="34" charset="0"/>
              </a:rPr>
              <a:t>Controller delle API</a:t>
            </a: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•  Implementa controller astratti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•  Implementa connessione al DB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b="1">
                <a:latin typeface="Arial" panose="020B0604020202020204" pitchFamily="34" charset="0"/>
                <a:cs typeface="Arial" panose="020B0604020202020204" pitchFamily="34" charset="0"/>
              </a:rPr>
              <a:t>Route</a:t>
            </a: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•  Dettaglia comunicazione HTTP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•  Chiama metodi controller</a:t>
            </a:r>
            <a:endParaRPr lang="it-IT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>
                <a:latin typeface="Arial" panose="020B0604020202020204" pitchFamily="34" charset="0"/>
                <a:cs typeface="Arial" panose="020B0604020202020204" pitchFamily="34" charset="0"/>
              </a:rPr>
              <a:t>•  Definisce input attesi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Immagine 4" descr="Immagine che contiene diagramma, Rettangolo, schermata, linea&#10;&#10;Descrizione generata automaticamente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88560" y="1988184"/>
            <a:ext cx="6896536" cy="3852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/>
              <a:t>Deployment</a:t>
            </a:r>
            <a:endParaRPr lang="it-IT" b="1" dirty="0"/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Per il deployment della nostra applicazione, optiamo per l'utilizzo di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Docker, 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che ci consente di eseguire il server e il database in un ambiente contenitore. Con Docker, creiamo un'immagine del nostro ambiente di sviluppo completo e la distribuiamo su qualsiasi infrastruttura compatibile, garantendo così una maggiore flessibilità e controllo sull'ambiente di esecuzione.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CONCLUSIONE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it-IT" dirty="0"/>
              <a:t>• 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La soluzione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rispetta i requisiti 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definiti col committente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• Garantisce la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privacy dei dati 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utente (GDPR compliance)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• Permette estensioni future con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aggiunta di funzionalità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• Fa uso di tecnologie avanzate che garantiscono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scalabilità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• Garantisce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sicurezza delle infrastrutture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e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continuità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   del servizio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/>
          <p:cNvSpPr>
            <a:spLocks noGrp="1"/>
          </p:cNvSpPr>
          <p:nvPr>
            <p:ph type="title"/>
          </p:nvPr>
        </p:nvSpPr>
        <p:spPr>
          <a:xfrm flipH="1">
            <a:off x="3948430" y="1713865"/>
            <a:ext cx="4568190" cy="772160"/>
          </a:xfrm>
        </p:spPr>
        <p:txBody>
          <a:bodyPr>
            <a:normAutofit/>
          </a:bodyPr>
          <a:lstStyle/>
          <a:p>
            <a:r>
              <a:rPr lang="it-IT" sz="2800" b="1" dirty="0">
                <a:latin typeface="Arial" panose="020B0604020202020204" pitchFamily="34" charset="0"/>
                <a:cs typeface="Arial" panose="020B0604020202020204" pitchFamily="34" charset="0"/>
              </a:rPr>
              <a:t>Progetto sviluppato da </a:t>
            </a:r>
            <a:endParaRPr lang="it-IT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Segnaposto contenuto 2"/>
          <p:cNvSpPr>
            <a:spLocks noGrp="1"/>
          </p:cNvSpPr>
          <p:nvPr>
            <p:ph idx="1"/>
          </p:nvPr>
        </p:nvSpPr>
        <p:spPr>
          <a:xfrm>
            <a:off x="2313940" y="1999932"/>
            <a:ext cx="7487920" cy="285813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it-IT" dirty="0"/>
              <a:t>            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Luca Marongiu, Alex Santini,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Jemel</a:t>
            </a: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it-IT" dirty="0" err="1">
                <a:latin typeface="Arial" panose="020B0604020202020204" pitchFamily="34" charset="0"/>
                <a:cs typeface="Arial" panose="020B0604020202020204" pitchFamily="34" charset="0"/>
              </a:rPr>
              <a:t>Merouche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 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per il corso di Ingegneria del software T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                 Docente: </a:t>
            </a:r>
            <a:r>
              <a:rPr lang="it-IT" b="1" dirty="0">
                <a:latin typeface="Arial" panose="020B0604020202020204" pitchFamily="34" charset="0"/>
                <a:cs typeface="Arial" panose="020B0604020202020204" pitchFamily="34" charset="0"/>
              </a:rPr>
              <a:t>Marco Patella</a:t>
            </a:r>
            <a:endParaRPr lang="it-IT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it-IT" dirty="0">
                <a:latin typeface="Arial" panose="020B0604020202020204" pitchFamily="34" charset="0"/>
                <a:cs typeface="Arial" panose="020B0604020202020204" pitchFamily="34" charset="0"/>
              </a:rPr>
              <a:t>        Università di Bologna - A.A. 2023/2024</a:t>
            </a:r>
            <a:endParaRPr lang="it-IT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2919</Words>
  <Application>WPS Presentation</Application>
  <PresentationFormat>Widescreen</PresentationFormat>
  <Paragraphs>73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3" baseType="lpstr">
      <vt:lpstr>Arial</vt:lpstr>
      <vt:lpstr>SimSun</vt:lpstr>
      <vt:lpstr>Wingdings</vt:lpstr>
      <vt:lpstr>Aharoni</vt:lpstr>
      <vt:lpstr>Yu Gothic UI Semibold</vt:lpstr>
      <vt:lpstr>Aptos</vt:lpstr>
      <vt:lpstr>Segoe Print</vt:lpstr>
      <vt:lpstr>Microsoft YaHei</vt:lpstr>
      <vt:lpstr>Arial Unicode MS</vt:lpstr>
      <vt:lpstr>Aptos Display</vt:lpstr>
      <vt:lpstr>Calibri</vt:lpstr>
      <vt:lpstr>Arial Black</vt:lpstr>
      <vt:lpstr>Arial Narrow</vt:lpstr>
      <vt:lpstr>Tema di Office</vt:lpstr>
      <vt:lpstr>SmartBudget</vt:lpstr>
      <vt:lpstr>INTRODUZIONE</vt:lpstr>
      <vt:lpstr>Applicazione</vt:lpstr>
      <vt:lpstr>Endpoint di comunicazione</vt:lpstr>
      <vt:lpstr>Architettura software:REST</vt:lpstr>
      <vt:lpstr>Dependency Inversion Principle</vt:lpstr>
      <vt:lpstr>Deployment</vt:lpstr>
      <vt:lpstr>CONCLUSIONE</vt:lpstr>
      <vt:lpstr>Progetto sviluppato da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luca marongiu</dc:creator>
  <cp:lastModifiedBy>lucam</cp:lastModifiedBy>
  <cp:revision>4</cp:revision>
  <dcterms:created xsi:type="dcterms:W3CDTF">2024-06-07T20:17:00Z</dcterms:created>
  <dcterms:modified xsi:type="dcterms:W3CDTF">2024-06-07T21:35:09Z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4585769D4FF749B39ABB149FBAFC4EAE_12</vt:lpwstr>
  </property>
  <property fmtid="{D5CDD505-2E9C-101B-9397-08002B2CF9AE}" pid="3" name="KSOProductBuildVer">
    <vt:lpwstr>1033-12.2.0.13472</vt:lpwstr>
  </property>
</Properties>
</file>